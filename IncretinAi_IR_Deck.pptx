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446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54864" cy="3291840"/>
          </a:xfrm>
          <a:prstGeom prst="rect">
            <a:avLst/>
          </a:prstGeom>
          <a:solidFill>
            <a:srgbClr val="3AAFA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05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45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IncretinA i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AAF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Awaken Your Metabolic Switch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동기화되는 내 몸의 골든타임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097280"/>
            <a:ext cx="2560320" cy="256032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10" name="Text 7"/>
          <p:cNvSpPr/>
          <p:nvPr/>
        </p:nvSpPr>
        <p:spPr>
          <a:xfrm>
            <a:off x="6217920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AF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IMEM™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17920" y="1645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 × β × γ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21792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Incretin Metabolic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Model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6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ELISHA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2026.02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왜 지금 인크레틴인가?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비만 치료 패러다임의 전환: 칼로리에서 호르몬으로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920240" cy="13716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19202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16억+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 세계 과체중 인구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2024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280160"/>
            <a:ext cx="1920240" cy="1371600"/>
          </a:xfrm>
          <a:prstGeom prst="rect">
            <a:avLst/>
          </a:prstGeom>
          <a:solidFill>
            <a:srgbClr val="E6FAF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280160"/>
            <a:ext cx="192024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$100B+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5176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약물 시장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예측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920240" cy="137160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80160"/>
            <a:ext cx="19202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2/3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다이어트 실패율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1년 내 요요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280160"/>
            <a:ext cx="1920240" cy="137160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280160"/>
            <a:ext cx="19202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칼로리 앱 이탈률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3개월 내 중단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2880360"/>
            <a:ext cx="3886200" cy="201168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2880360"/>
            <a:ext cx="3886200" cy="4572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17520"/>
            <a:ext cx="320040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8872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기존 칼로리 기반 앱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77240" y="34747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'먹은 것'만 기록 → 행동 변화 미유도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칼로리 = 동일 결과 (오류)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식사 '시간'과 '순서' 무시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이탈률 (기록 피로감)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709160" y="2880360"/>
            <a:ext cx="3886200" cy="2011680"/>
          </a:xfrm>
          <a:prstGeom prst="rect">
            <a:avLst/>
          </a:prstGeom>
          <a:solidFill>
            <a:srgbClr val="E6FAF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2880360"/>
            <a:ext cx="3886200" cy="4572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17520"/>
            <a:ext cx="320040" cy="32004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3492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IncretinA i의 접근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4937760" y="347472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'언제, 어떤 순서로' 먹는지에 집중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인크레틴 호르몬 효율 기반 예측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일출/일몰 연동 생체 리듬 최적화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점수로 습관 형성 유도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임상적 근거 (Clinical Foundation)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인크레틴 과학에 기반한 6대 핵심 변수와 그 효과 크기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3375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 논문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효과 크기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앱 적용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식사 시간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Garaulet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J Obesity (2013)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조기 식사 그룹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체중 감량 25%↑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Bio-Sync Timer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계수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식사 순서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Shukla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Care (2017)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혈당 스파이크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 감소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시퀀스 가이드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β_seq 계수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프리로드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Care (2015)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GLP-1 분비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2배 증가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프리로드 리마인더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β_pre 계수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식후 운동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Colberg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Care (2016)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혈당 AUC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감소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식후 산책 루틴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β_seq 보너스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야간 단식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Wilkinson et 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Metabolism (2020)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체지방 3% 감소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인슐린 저항성 개선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19시 Metabolic Switch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나이트 모드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인크레틴 감수성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Nauck &amp; Meier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Lancet Diabetes (2018)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T2DM 환자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인크레틴 효과 40-60%↓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계수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당뇨/전당뇨 개인화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solidFill>
            <a:srgbClr val="0F2942"/>
          </a:solidFill>
          <a:ln/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20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 논문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효과 크기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앱 적용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E6FAF8"/>
          </a:solidFill>
          <a:ln/>
        </p:spPr>
      </p:sp>
      <p:sp>
        <p:nvSpPr>
          <p:cNvPr id="9" name="Shape 5"/>
          <p:cNvSpPr/>
          <p:nvPr/>
        </p:nvSpPr>
        <p:spPr>
          <a:xfrm>
            <a:off x="548640" y="4434840"/>
            <a:ext cx="54864" cy="5029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6"/>
          <p:cNvSpPr/>
          <p:nvPr/>
        </p:nvSpPr>
        <p:spPr>
          <a:xfrm>
            <a:off x="777240" y="44348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칼로리라도 '언제, 어떤 순서로' 먹느냐에 따라 체지방 감소율이 최대 50% 차이. IncretinA i는 이 호르몬 효율을 수치화한 최초의 앱.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기술: IMEM™ 알고리즘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Incretin Metabolic Efficiency Model — 호르몬 효율 기반 체중 예측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solidFill>
            <a:srgbClr val="0F2942"/>
          </a:solidFill>
          <a:ln/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8046720" cy="45720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ΔWeight = f(BMR) × [ </a:t>
            </a:r>
            <a:r>
              <a:rPr lang="en-US" sz="22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(Timing) × </a:t>
            </a:r>
            <a:r>
              <a:rPr lang="en-US" sz="2200" b="1" dirty="0">
                <a:solidFill>
                  <a:srgbClr val="3AAF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(Sequence) × </a:t>
            </a:r>
            <a:r>
              <a:rPr lang="en-US" sz="2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(Sensitivity) ] × Compliance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560320" cy="2286000"/>
          </a:xfrm>
          <a:prstGeom prst="rect">
            <a:avLst/>
          </a:prstGeom>
          <a:solidFill>
            <a:srgbClr val="1A2A40"/>
          </a:solidFill>
          <a:ln/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03120"/>
            <a:ext cx="2560320" cy="45720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94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0.90 ~ 1.14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식사 시간과 일몰 시간의 관계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기상/수면 생체리듬 보너스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E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식사 일몰 전 완료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2103120"/>
            <a:ext cx="2560320" cy="2286000"/>
          </a:xfrm>
          <a:prstGeom prst="rect">
            <a:avLst/>
          </a:prstGeom>
          <a:solidFill>
            <a:srgbClr val="1A2A40"/>
          </a:solidFill>
          <a:ln/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2103120"/>
            <a:ext cx="2560320" cy="45720"/>
          </a:xfrm>
          <a:prstGeom prst="rect">
            <a:avLst/>
          </a:prstGeom>
          <a:solidFill>
            <a:srgbClr val="3AAFA9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194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AAF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832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AF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 ~ 1.051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β_pre(프리로드) × β_seq(순서)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곱셈 구조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프리로드 + 순서식사 + 산책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103120"/>
            <a:ext cx="2560320" cy="2286000"/>
          </a:xfrm>
          <a:prstGeom prst="rect">
            <a:avLst/>
          </a:prstGeom>
          <a:solidFill>
            <a:srgbClr val="1A2A40"/>
          </a:solidFill>
          <a:ln/>
          <a:effectLst>
            <a:outerShdw blurRad="127000" dist="508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2103120"/>
            <a:ext cx="25603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2194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21792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3017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 ~ 1.05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당뇨 유형별 base × (1 + 운동)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GIP 저항성 보정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비당뇨 + 주 3회 근력운동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572000"/>
            <a:ext cx="3886200" cy="457200"/>
          </a:xfrm>
          <a:prstGeom prst="rect">
            <a:avLst/>
          </a:prstGeom>
          <a:solidFill>
            <a:srgbClr val="2A152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앱: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300kcal × 30일 ÷ 7,700 = </a:t>
            </a: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-1.17kg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4572000"/>
            <a:ext cx="3886200" cy="457200"/>
          </a:xfrm>
          <a:prstGeom prst="rect">
            <a:avLst/>
          </a:prstGeom>
          <a:solidFill>
            <a:srgbClr val="0D2A28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4572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IMEM: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적자 × α×β×γ = </a:t>
            </a:r>
            <a:r>
              <a:rPr lang="en-US" sz="14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-1.40kg (+20%)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Bio-Sync Timer™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일주기 리듬(Circadian Rhythm) 연동 대사 최적화 엔진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60320" cy="2651760"/>
          </a:xfrm>
          <a:prstGeom prst="rect">
            <a:avLst/>
          </a:prstGeom>
          <a:solidFill>
            <a:srgbClr val="FFFBEB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2560320" cy="54864"/>
          </a:xfrm>
          <a:prstGeom prst="rect">
            <a:avLst/>
          </a:prstGeom>
          <a:solidFill>
            <a:srgbClr val="DEA54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Mode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1645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A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골든타임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일출 ~ 일몰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밝은 UI 테마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골든타임 카운트다운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식사 기록 활성화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계수 실시간 반영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234440"/>
            <a:ext cx="2560320" cy="265176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383280" y="1234440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4173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2336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Last Call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023360" y="1645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라스트콜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56616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일몰 30분 전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6616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경고 색상 전환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 알림 발동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하락 경고 표시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식사 유도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17920" y="1234440"/>
            <a:ext cx="2560320" cy="2651760"/>
          </a:xfrm>
          <a:prstGeom prst="rect">
            <a:avLst/>
          </a:prstGeom>
          <a:solidFill>
            <a:srgbClr val="E6FAF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1234440"/>
            <a:ext cx="2560320" cy="54864"/>
          </a:xfrm>
          <a:prstGeom prst="rect">
            <a:avLst/>
          </a:prstGeom>
          <a:solidFill>
            <a:srgbClr val="2B7A78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173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14173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Night Mode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858000" y="16459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대사 휴식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일몰 이후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40080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 UI 자동 전환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식사 버튼 비활성화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야식 방어 오버레이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일출 카운트다운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solidFill>
            <a:srgbClr val="E6FAF8"/>
          </a:solidFill>
          <a:ln/>
        </p:spPr>
      </p:sp>
      <p:sp>
        <p:nvSpPr>
          <p:cNvPr id="27" name="Shape 22"/>
          <p:cNvSpPr/>
          <p:nvPr/>
        </p:nvSpPr>
        <p:spPr>
          <a:xfrm>
            <a:off x="548640" y="4114800"/>
            <a:ext cx="54864" cy="8229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8" name="Text 23"/>
          <p:cNvSpPr/>
          <p:nvPr/>
        </p:nvSpPr>
        <p:spPr>
          <a:xfrm>
            <a:off x="777240" y="41148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임상적 가치: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환경 설계로 야식 방지 (의지력 불필요) 2) 계절/위치 자동 조정 (여름 19:30 vs 겨울 17:20) 3) α 계수 실시간 피드백으로 행동→호르몬 영향 체감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24시간 인크레틴 루틴 시스템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10단계 정밀 루틴 × IMEM 계수 매핑 × 실시간 점수 피드백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457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07:00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143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생체 리듬 리셋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1143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828800"/>
            <a:ext cx="457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08:30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커피 대사 부스트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1874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1874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560320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2560320"/>
            <a:ext cx="457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624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🍳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2606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 단식 해제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66160" y="2606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2606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291840"/>
            <a:ext cx="3931920" cy="621792"/>
          </a:xfrm>
          <a:prstGeom prst="rect">
            <a:avLst/>
          </a:prstGeom>
          <a:solidFill>
            <a:srgbClr val="F5E6C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3291840"/>
            <a:ext cx="45720" cy="621792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🥜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7280" y="3337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호르몬 프리로드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566160" y="3337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0" y="33375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0" y="3611880"/>
            <a:ext cx="548640" cy="182880"/>
          </a:xfrm>
          <a:prstGeom prst="rect">
            <a:avLst/>
          </a:prstGeom>
          <a:solidFill>
            <a:srgbClr val="DEA5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48640" y="4023360"/>
            <a:ext cx="3931920" cy="621792"/>
          </a:xfrm>
          <a:prstGeom prst="rect">
            <a:avLst/>
          </a:prstGeom>
          <a:solidFill>
            <a:srgbClr val="F5E6C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4023360"/>
            <a:ext cx="45720" cy="621792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🥗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97280" y="4069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12:00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82880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인크레틴 시퀀스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66160" y="4069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31920" y="4069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828800" y="4343400"/>
            <a:ext cx="548640" cy="182880"/>
          </a:xfrm>
          <a:prstGeom prst="rect">
            <a:avLst/>
          </a:prstGeom>
          <a:solidFill>
            <a:srgbClr val="DEA5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663440" y="1097280"/>
            <a:ext cx="3931920" cy="621792"/>
          </a:xfrm>
          <a:prstGeom prst="rect">
            <a:avLst/>
          </a:prstGeom>
          <a:solidFill>
            <a:srgbClr val="F5E6C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1097280"/>
            <a:ext cx="45720" cy="621792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🚶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212080" y="1143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12:50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1143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글루코스 클리어런스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680960" y="11430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046720" y="1143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943600" y="1417320"/>
            <a:ext cx="548640" cy="182880"/>
          </a:xfrm>
          <a:prstGeom prst="rect">
            <a:avLst/>
          </a:prstGeom>
          <a:solidFill>
            <a:srgbClr val="DEA5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663440" y="1828800"/>
            <a:ext cx="3931920" cy="621792"/>
          </a:xfrm>
          <a:prstGeom prst="rect">
            <a:avLst/>
          </a:prstGeom>
          <a:solidFill>
            <a:srgbClr val="F5E6C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1828800"/>
            <a:ext cx="45720" cy="621792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212080" y="1874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19:00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4360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저녁 마감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680960" y="18745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046720" y="1874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+17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943600" y="2148840"/>
            <a:ext cx="548640" cy="182880"/>
          </a:xfrm>
          <a:prstGeom prst="rect">
            <a:avLst/>
          </a:prstGeom>
          <a:solidFill>
            <a:srgbClr val="DEA54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663440" y="2560320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2560320"/>
            <a:ext cx="457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8"/>
          <p:cNvSpPr/>
          <p:nvPr/>
        </p:nvSpPr>
        <p:spPr>
          <a:xfrm>
            <a:off x="4800600" y="2624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💪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5212080" y="2606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20:30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94360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근육 방어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680960" y="2606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046720" y="2606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663440" y="3291840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63440" y="3291840"/>
            <a:ext cx="457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5"/>
          <p:cNvSpPr/>
          <p:nvPr/>
        </p:nvSpPr>
        <p:spPr>
          <a:xfrm>
            <a:off x="480060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🌙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5212080" y="3337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22:00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943600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멜라토닌 가드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680960" y="33375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046720" y="333756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663440" y="4023360"/>
            <a:ext cx="3931920" cy="6217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4663440" y="4023360"/>
            <a:ext cx="45720" cy="62179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2"/>
          <p:cNvSpPr/>
          <p:nvPr/>
        </p:nvSpPr>
        <p:spPr>
          <a:xfrm>
            <a:off x="480060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😴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5212080" y="4069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23:00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943600" y="4069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심층 대사 복구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7680960" y="40690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046720" y="4069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넛지 시스템 (Natural Nudge)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TTM + FBM 기반 행동 변화 엔진 — 3가지 AI 페르소나 × 실시간 IMEM 연동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2560320"/>
          </a:xfrm>
          <a:prstGeom prst="rect">
            <a:avLst/>
          </a:prstGeom>
          <a:solidFill>
            <a:srgbClr val="E6FAF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임상 전문가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의학 용어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객관적·분석적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2286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788920"/>
            <a:ext cx="36576" cy="77724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88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"α=1.10, β=1.051 달성.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AMPK 경로가 지방 연소를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주도하고 있습니다."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83280" y="1188720"/>
            <a:ext cx="2560320" cy="256032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8328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결과 지향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직접적·도전적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달성 강조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긴박감 부여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0440" y="2788920"/>
            <a:ext cx="2286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0440" y="2788920"/>
            <a:ext cx="36576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2788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"완벽합니다! 이 순응도면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예측보다 1주 빨리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도달합니다!"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560320" cy="2560320"/>
          </a:xfrm>
          <a:prstGeom prst="rect">
            <a:avLst/>
          </a:prstGeom>
          <a:solidFill>
            <a:srgbClr val="E6FAF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1792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공감 파트너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2148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따뜻한 격려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감정 공감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장기적 관점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55080" y="2788920"/>
            <a:ext cx="22860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355080" y="2788920"/>
            <a:ext cx="36576" cy="77724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27889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"오늘 정말 고생 많으셨어요.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세포 하나하나가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깨어나고 있습니다."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넛지 트리거 구조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solidFill>
            <a:srgbClr val="0F2942"/>
          </a:solidFill>
          <a:ln/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8046720" cy="274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트리거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8046720" cy="731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프리로드 리마인더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식사 30분 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β_pre 행동 유도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라스트콜 알림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일몰 30분 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EA5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보너스 확보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데일리 리캡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취침 시간 21:00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성취감 + 리텐션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경쟁 우위 분석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앱 대비 유일한 '호르몬 효율 정량화' 포지셔닝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320040"/>
          </a:xfrm>
          <a:prstGeom prst="rect">
            <a:avLst/>
          </a:prstGeom>
          <a:solidFill>
            <a:srgbClr val="0F2942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20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IncretinA 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MyFitnessPal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23317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원리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인크레틴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호르몬 효율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칼로리 계산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심리학 기반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간헐적 단식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다이어트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식사 순서 가이드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β 계수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일주기 리듬 연동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Bio-Sync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고정 시간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호르몬 효율 수치화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IMEM α·β·γ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당뇨 유형 개인화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γ 계수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제한적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행동 점수 피드백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100점 실시간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주간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단식만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제한적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5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6FAF8"/>
          </a:solidFill>
          <a:ln/>
        </p:spPr>
      </p:sp>
      <p:sp>
        <p:nvSpPr>
          <p:cNvPr id="10" name="Shape 6"/>
          <p:cNvSpPr/>
          <p:nvPr/>
        </p:nvSpPr>
        <p:spPr>
          <a:xfrm>
            <a:off x="548640" y="4572000"/>
            <a:ext cx="54864" cy="4572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4572000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유일한 포지셔닝: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칼로리가 아닌 '호르몬 효율'을 정량화하고, 일주기 리듬에 연동하여 행동을 유도하는 유일한 체중관리 앱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타겟 세그먼트 &amp; 비즈니스 모델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3886200" cy="2103120"/>
          </a:xfrm>
          <a:prstGeom prst="rect">
            <a:avLst/>
          </a:prstGeom>
          <a:solidFill>
            <a:srgbClr val="E6FAF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3886200" cy="54864"/>
          </a:xfrm>
          <a:prstGeom prst="rect">
            <a:avLst/>
          </a:prstGeom>
          <a:solidFill>
            <a:srgbClr val="2B7A7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0972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Naturalist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비약물 선호자 — 과학적 생활습관으로 체중 관리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182880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α·β 계수 중심 행동 최적화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내인성 인크레틴 자연 분비 극대화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칼로리 기록 없는 직관적 가이드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건강 관심 다이어터 5억+ 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09160" y="914400"/>
            <a:ext cx="3886200" cy="210312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914400"/>
            <a:ext cx="388620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972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Companion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937760" y="14630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약물 병용자 — 약물 효과 극대화 + 반등 방지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37760" y="182880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계수 중심 약물 감수성 관리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약물 중단 후 반등 방지 프로토콜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의료진 공유용 임상 데이터 내보내기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GLP-1 처방 3천만+ 명 (2030)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구독 모델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solidFill>
            <a:srgbClr val="0F2942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8046720" cy="274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₩9,900/월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₩19,900/월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F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03320"/>
          <a:ext cx="8046720" cy="1280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Bio-Sync Timer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IMEM 계수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α·β·γ 전체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α·β·γ + 심층 분석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넛지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3종 전체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3종 + 맞춤 코칭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내보내기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Excel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+ 의료진 대시보드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4주 예측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B7A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+ 시나리오 비교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로드맵 &amp; 비전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→ PMF → Scale: 24개월 성장 전략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560320" cy="3017520"/>
          </a:xfrm>
          <a:prstGeom prst="rect">
            <a:avLst/>
          </a:prstGeom>
          <a:solidFill>
            <a:srgbClr val="E6FAF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🔬 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검증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0~6개월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프로토타입 출시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베타 (30~50명)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가설 검증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완료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2377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MAU 50K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D7 Ret ≥35%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560320" cy="3017520"/>
          </a:xfrm>
          <a:prstGeom prst="rect">
            <a:avLst/>
          </a:prstGeom>
          <a:solidFill>
            <a:srgbClr val="FFF8E1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EA5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Phase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성장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2044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6~12개월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1945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식사 분석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웨어러블 연동 (γ 정밀화)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코치 (LLM 기반)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건기식 커머스 런칭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3520440"/>
            <a:ext cx="2377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MAU 200K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DEA5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ARPU ₩8K+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097280"/>
            <a:ext cx="2560320" cy="3017520"/>
          </a:xfrm>
          <a:prstGeom prst="rect">
            <a:avLst/>
          </a:prstGeom>
          <a:solidFill>
            <a:srgbClr val="E6FAF8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🌏 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확장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55080" y="1828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12~24개월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21945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진출 (EN/JP)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헬스케어 제휴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IMEM API 라이센싱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임상 연구 파트너십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3520440"/>
            <a:ext cx="23774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글로벌 MAU 1M+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매출 30%+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8046720" cy="594360"/>
          </a:xfrm>
          <a:prstGeom prst="rect">
            <a:avLst/>
          </a:prstGeom>
          <a:solidFill>
            <a:srgbClr val="E6FAF8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343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3434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7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'다이어트 앱'이 아닌 '디지털 인크레틴 치료제(Digital Incretin Therapeutics)'. 소프트웨어만으로 인크레틴 호르몬 시스템을 최적화하여, 약물 없이도 대사 건강을 근본적으로 개선합니다.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EA5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EA54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IncretinA i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3AAF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"Awaken Your Metabolic Switch"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AI로 동기화되는 내 몸의 골든타임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743200" y="3840480"/>
            <a:ext cx="3657600" cy="36576"/>
          </a:xfrm>
          <a:prstGeom prst="rect">
            <a:avLst/>
          </a:prstGeom>
          <a:solidFill>
            <a:srgbClr val="DEA54B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82880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ELISHA  |  contact@elisha.io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2880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2026.02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1227</Words>
  <Application>Microsoft Office PowerPoint</Application>
  <PresentationFormat>화면 슬라이드 쇼(16:9)</PresentationFormat>
  <Paragraphs>357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IncretinA i - IR Pitch Deck</dc:title>
  <dc:subject>PptxGenJS Presentation</dc:subject>
  <dc:creator>ELISHA</dc:creator>
  <cp:lastModifiedBy>Seongboh Kim</cp:lastModifiedBy>
  <cp:revision>2</cp:revision>
  <dcterms:created xsi:type="dcterms:W3CDTF">2026-02-22T06:32:51Z</dcterms:created>
  <dcterms:modified xsi:type="dcterms:W3CDTF">2026-02-22T06:39:43Z</dcterms:modified>
</cp:coreProperties>
</file>